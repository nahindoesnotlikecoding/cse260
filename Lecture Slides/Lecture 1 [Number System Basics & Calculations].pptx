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Roboto Mono Medium"/>
      <p:regular r:id="rId47"/>
      <p:bold r:id="rId48"/>
      <p:italic r:id="rId49"/>
      <p:boldItalic r:id="rId50"/>
    </p:embeddedFont>
    <p:embeddedFont>
      <p:font typeface="Lexend Light"/>
      <p:regular r:id="rId51"/>
      <p:bold r:id="rId52"/>
    </p:embeddedFont>
    <p:embeddedFont>
      <p:font typeface="Tahoma"/>
      <p:regular r:id="rId53"/>
      <p:bold r:id="rId54"/>
    </p:embeddedFont>
    <p:embeddedFont>
      <p:font typeface="Lexend"/>
      <p:regular r:id="rId55"/>
      <p:bold r:id="rId56"/>
    </p:embeddedFont>
    <p:embeddedFont>
      <p:font typeface="Roboto Mono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A60E50-417B-46D5-A1A8-42CD7DCB61F0}">
  <a:tblStyle styleId="{2BA60E50-417B-46D5-A1A8-42CD7DCB61F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MonoMedium-bold.fntdata"/><Relationship Id="rId47" Type="http://schemas.openxmlformats.org/officeDocument/2006/relationships/font" Target="fonts/RobotoMonoMedium-regular.fntdata"/><Relationship Id="rId49" Type="http://schemas.openxmlformats.org/officeDocument/2006/relationships/font" Target="fonts/RobotoMono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Mon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exendLight-regular.fntdata"/><Relationship Id="rId50" Type="http://schemas.openxmlformats.org/officeDocument/2006/relationships/font" Target="fonts/RobotoMonoMedium-boldItalic.fntdata"/><Relationship Id="rId53" Type="http://schemas.openxmlformats.org/officeDocument/2006/relationships/font" Target="fonts/Tahoma-regular.fntdata"/><Relationship Id="rId52" Type="http://schemas.openxmlformats.org/officeDocument/2006/relationships/font" Target="fonts/LexendLight-bold.fntdata"/><Relationship Id="rId11" Type="http://schemas.openxmlformats.org/officeDocument/2006/relationships/slide" Target="slides/slide5.xml"/><Relationship Id="rId55" Type="http://schemas.openxmlformats.org/officeDocument/2006/relationships/font" Target="fonts/Lexend-regular.fntdata"/><Relationship Id="rId10" Type="http://schemas.openxmlformats.org/officeDocument/2006/relationships/slide" Target="slides/slide4.xml"/><Relationship Id="rId54" Type="http://schemas.openxmlformats.org/officeDocument/2006/relationships/font" Target="fonts/Tahoma-bold.fntdata"/><Relationship Id="rId13" Type="http://schemas.openxmlformats.org/officeDocument/2006/relationships/slide" Target="slides/slide7.xml"/><Relationship Id="rId57" Type="http://schemas.openxmlformats.org/officeDocument/2006/relationships/font" Target="fonts/RobotoMono-regular.fntdata"/><Relationship Id="rId12" Type="http://schemas.openxmlformats.org/officeDocument/2006/relationships/slide" Target="slides/slide6.xml"/><Relationship Id="rId56" Type="http://schemas.openxmlformats.org/officeDocument/2006/relationships/font" Target="fonts/Lexend-bold.fntdata"/><Relationship Id="rId15" Type="http://schemas.openxmlformats.org/officeDocument/2006/relationships/slide" Target="slides/slide9.xml"/><Relationship Id="rId59" Type="http://schemas.openxmlformats.org/officeDocument/2006/relationships/font" Target="fonts/RobotoMono-italic.fntdata"/><Relationship Id="rId14" Type="http://schemas.openxmlformats.org/officeDocument/2006/relationships/slide" Target="slides/slide8.xml"/><Relationship Id="rId58" Type="http://schemas.openxmlformats.org/officeDocument/2006/relationships/font" Target="fonts/RobotoMon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14607bec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14607bec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1495c2e2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1495c2e2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1495c2e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1495c2e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1495c2e2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1495c2e2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1495c2e2e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1495c2e2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1495c2e2e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1495c2e2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1495c2e2e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1495c2e2e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1495c2e2e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1495c2e2e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1495c2e2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61495c2e2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1495c2e2e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1495c2e2e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1495c2e2e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61495c2e2e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1495c2e2e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61495c2e2e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1495c2e2e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61495c2e2e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1495c2e2e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61495c2e2e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61495c2e2e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61495c2e2e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61495c2e2e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61495c2e2e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1495c2e2e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61495c2e2e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1495c2e2e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61495c2e2e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1495c2e2e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61495c2e2e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61495c2e2e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61495c2e2e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61495c2e2e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61495c2e2e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61495c2e2e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61495c2e2e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61495c2e2e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61495c2e2e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61495c2e2e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61495c2e2e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61495c2e2e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61495c2e2e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61495c2e2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61495c2e2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61495c2e2e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61495c2e2e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61495c2e2e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61495c2e2e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61495c2e2e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61495c2e2e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61495c2e2e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61495c2e2e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61495c2e2e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61495c2e2e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61495c2e2e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61495c2e2e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61495c2e2e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61495c2e2e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61495c2e2e_0_1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61495c2e2e_0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61495c2e2e_0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61495c2e2e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61495c2e2e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61495c2e2e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61495c2e2e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61495c2e2e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61495c2e2e_0_1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61495c2e2e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5" Type="http://schemas.openxmlformats.org/officeDocument/2006/relationships/image" Target="../media/image5.jpg"/><Relationship Id="rId6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1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Number System &amp; Calculations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Close-up of number (Provided by Getty Images)"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450" y="2501775"/>
            <a:ext cx="2753818" cy="18300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lculator   accounting   calculation (Provided by Getty Images)"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6968" y="2501775"/>
            <a:ext cx="1830052" cy="18300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woman writing make note and thinking about problem with calculation. (Provided by Getty Images)" id="60" name="Google Shape;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6794" y="2501775"/>
            <a:ext cx="2745743" cy="183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" name="Google Shape;71;p14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72" name="Google Shape;72;p14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76" name="Google Shape;76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/>
        </p:nvSpPr>
        <p:spPr>
          <a:xfrm>
            <a:off x="354925" y="1557600"/>
            <a:ext cx="38919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Distinguish between analog and digital system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Understand the advantage and limitation of digital system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Understand the meaning of digital logic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814400" y="1557600"/>
            <a:ext cx="38919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➔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Analog data can vary over a continuous range of values. </a:t>
            </a:r>
            <a:endParaRPr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 speedometer</a:t>
            </a:r>
            <a:endParaRPr i="1"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➔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Digital quantities can take on only discrete values (0 and 1, high and low).    </a:t>
            </a:r>
            <a:r>
              <a:rPr i="1"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 Digital Computer, Decimal Digits, Alphabets</a:t>
            </a:r>
            <a:endParaRPr i="1"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64825" y="553300"/>
            <a:ext cx="3873000" cy="6303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Objective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828697" y="550550"/>
            <a:ext cx="3891900" cy="630300"/>
          </a:xfrm>
          <a:prstGeom prst="roundRect">
            <a:avLst>
              <a:gd fmla="val 50000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 vs. Digital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5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93" name="Google Shape;93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5"/>
          <p:cNvSpPr txBox="1"/>
          <p:nvPr/>
        </p:nvSpPr>
        <p:spPr>
          <a:xfrm>
            <a:off x="354925" y="1557600"/>
            <a:ext cx="8440200" cy="25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digital system is a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combination of devices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designed to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manipulate physical quantities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 information that are represented in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digital form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“A discreet information processing system”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Signals: Discreet information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209775" y="3161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Digital System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64825" y="1324925"/>
            <a:ext cx="46602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253500" y="1324925"/>
            <a:ext cx="34482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6"/>
          <p:cNvGrpSpPr/>
          <p:nvPr/>
        </p:nvGrpSpPr>
        <p:grpSpPr>
          <a:xfrm>
            <a:off x="5303013" y="1426240"/>
            <a:ext cx="277873" cy="68400"/>
            <a:chOff x="5024113" y="2416840"/>
            <a:chExt cx="277873" cy="68400"/>
          </a:xfrm>
        </p:grpSpPr>
        <p:sp>
          <p:nvSpPr>
            <p:cNvPr id="109" name="Google Shape;109;p16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" name="Google Shape;112;p16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13" name="Google Shape;113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354925" y="1557600"/>
            <a:ext cx="4507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Greater accuracy or precision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Easier to design (generality) 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Easier information storage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Programmability (instructions)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Speed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Economical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258100" y="1557600"/>
            <a:ext cx="3448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➔"/>
            </a:pPr>
            <a:r>
              <a:rPr lang="en" sz="2000">
                <a:latin typeface="Lexend Light"/>
                <a:ea typeface="Lexend Light"/>
                <a:cs typeface="Lexend Light"/>
                <a:sym typeface="Lexend Light"/>
              </a:rPr>
              <a:t>The real world is mainly analog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64825" y="553300"/>
            <a:ext cx="4660200" cy="6303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Digital System Advantages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272250" y="550550"/>
            <a:ext cx="3448200" cy="630300"/>
          </a:xfrm>
          <a:prstGeom prst="roundRect">
            <a:avLst>
              <a:gd fmla="val 50000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Limitation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7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130" name="Google Shape;130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7"/>
          <p:cNvSpPr txBox="1"/>
          <p:nvPr/>
        </p:nvSpPr>
        <p:spPr>
          <a:xfrm>
            <a:off x="355850" y="1259050"/>
            <a:ext cx="8440200" cy="14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the real world analog input data into digital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Process this digital data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again convert into analog form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Overcome the Limitations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8026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Input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8853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Digital</a:t>
            </a:r>
            <a:br>
              <a:rPr lang="en" sz="2400">
                <a:latin typeface="Lexend"/>
                <a:ea typeface="Lexend"/>
                <a:cs typeface="Lexend"/>
                <a:sym typeface="Lexend"/>
              </a:rPr>
            </a:br>
            <a:r>
              <a:rPr lang="en" sz="2400">
                <a:latin typeface="Lexend"/>
                <a:ea typeface="Lexend"/>
                <a:cs typeface="Lexend"/>
                <a:sym typeface="Lexend"/>
              </a:rPr>
              <a:t>Data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9680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Output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" name="Google Shape;138;p17"/>
          <p:cNvCxnSpPr>
            <a:stCxn id="135" idx="3"/>
            <a:endCxn id="136" idx="1"/>
          </p:cNvCxnSpPr>
          <p:nvPr/>
        </p:nvCxnSpPr>
        <p:spPr>
          <a:xfrm>
            <a:off x="2176000" y="3887475"/>
            <a:ext cx="1709400" cy="0"/>
          </a:xfrm>
          <a:prstGeom prst="straightConnector1">
            <a:avLst/>
          </a:prstGeom>
          <a:noFill/>
          <a:ln cap="flat" cmpd="sng" w="38100">
            <a:solidFill>
              <a:srgbClr val="22226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7"/>
          <p:cNvCxnSpPr/>
          <p:nvPr/>
        </p:nvCxnSpPr>
        <p:spPr>
          <a:xfrm>
            <a:off x="5258700" y="3887475"/>
            <a:ext cx="1709400" cy="0"/>
          </a:xfrm>
          <a:prstGeom prst="straightConnector1">
            <a:avLst/>
          </a:prstGeom>
          <a:noFill/>
          <a:ln cap="flat" cmpd="sng" w="38100">
            <a:solidFill>
              <a:srgbClr val="22226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7"/>
          <p:cNvSpPr txBox="1"/>
          <p:nvPr/>
        </p:nvSpPr>
        <p:spPr>
          <a:xfrm>
            <a:off x="1906450" y="3425775"/>
            <a:ext cx="224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06666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t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o </a:t>
            </a:r>
            <a:r>
              <a:rPr b="1" lang="en" sz="1800">
                <a:solidFill>
                  <a:srgbClr val="3D85C6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Conversion</a:t>
            </a:r>
            <a:endParaRPr sz="1800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989150" y="3425775"/>
            <a:ext cx="224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D85C6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to </a:t>
            </a:r>
            <a:r>
              <a:rPr b="1" lang="en" sz="1800">
                <a:solidFill>
                  <a:srgbClr val="E06666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Conversion</a:t>
            </a:r>
            <a:endParaRPr sz="1800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7"/>
          <p:cNvSpPr/>
          <p:nvPr/>
        </p:nvSpPr>
        <p:spPr>
          <a:xfrm rot="420648">
            <a:off x="4205149" y="2832704"/>
            <a:ext cx="646799" cy="539365"/>
          </a:xfrm>
          <a:custGeom>
            <a:rect b="b" l="l" r="r" t="t"/>
            <a:pathLst>
              <a:path extrusionOk="0" h="20681" w="23761">
                <a:moveTo>
                  <a:pt x="5089" y="20682"/>
                </a:moveTo>
                <a:cubicBezTo>
                  <a:pt x="-270" y="19611"/>
                  <a:pt x="-1220" y="9280"/>
                  <a:pt x="1677" y="4646"/>
                </a:cubicBezTo>
                <a:cubicBezTo>
                  <a:pt x="3217" y="2182"/>
                  <a:pt x="6306" y="622"/>
                  <a:pt x="9183" y="211"/>
                </a:cubicBezTo>
                <a:cubicBezTo>
                  <a:pt x="13498" y="-405"/>
                  <a:pt x="18726" y="539"/>
                  <a:pt x="21807" y="3623"/>
                </a:cubicBezTo>
                <a:cubicBezTo>
                  <a:pt x="25687" y="7507"/>
                  <a:pt x="22964" y="17204"/>
                  <a:pt x="18054" y="19659"/>
                </a:cubicBezTo>
              </a:path>
            </a:pathLst>
          </a:custGeom>
          <a:noFill/>
          <a:ln cap="flat" cmpd="sng" w="28575">
            <a:solidFill>
              <a:srgbClr val="222268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" name="Google Shape;143;p17"/>
          <p:cNvSpPr txBox="1"/>
          <p:nvPr/>
        </p:nvSpPr>
        <p:spPr>
          <a:xfrm>
            <a:off x="4376700" y="2795238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Processing</a:t>
            </a:r>
            <a:endParaRPr sz="18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1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54" name="Google Shape;154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8"/>
          <p:cNvSpPr txBox="1"/>
          <p:nvPr/>
        </p:nvSpPr>
        <p:spPr>
          <a:xfrm>
            <a:off x="354925" y="1557600"/>
            <a:ext cx="8440200" cy="3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logic is a term used to denote the design and analysis of digital system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logic is concerned with the interconnection among digital components and modules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logic design is engineering and engineering means problem solving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209775" y="3161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Digital Logic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9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67" name="Google Shape;167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19"/>
          <p:cNvSpPr txBox="1"/>
          <p:nvPr/>
        </p:nvSpPr>
        <p:spPr>
          <a:xfrm>
            <a:off x="354925" y="1557600"/>
            <a:ext cx="84402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Systems are built from circuits that process binary digits. BUT very few real-life problems are based on binary numbers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a digital system designer must establish some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correspondence between the binary digits processed by digital circuits and real-life numbers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events and conditions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209775" y="316175"/>
            <a:ext cx="89343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Number systems and codes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20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182" name="Google Shape;182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20"/>
          <p:cNvSpPr txBox="1"/>
          <p:nvPr/>
        </p:nvSpPr>
        <p:spPr>
          <a:xfrm>
            <a:off x="355850" y="1259050"/>
            <a:ext cx="84402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Human decisions tends to be binary i.e.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Yes or No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Elementary storage units inside computer are </a:t>
            </a:r>
            <a:r>
              <a:rPr i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electronic switches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Each switch holds one of two states: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 (1) or off (0).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2695575" y="2888500"/>
            <a:ext cx="3752850" cy="1558925"/>
            <a:chOff x="1632" y="1956"/>
            <a:chExt cx="2364" cy="982"/>
          </a:xfrm>
        </p:grpSpPr>
        <p:grpSp>
          <p:nvGrpSpPr>
            <p:cNvPr id="188" name="Google Shape;188;p20"/>
            <p:cNvGrpSpPr/>
            <p:nvPr/>
          </p:nvGrpSpPr>
          <p:grpSpPr>
            <a:xfrm>
              <a:off x="1632" y="2208"/>
              <a:ext cx="876" cy="24"/>
              <a:chOff x="1392" y="2376"/>
              <a:chExt cx="876" cy="24"/>
            </a:xfrm>
          </p:grpSpPr>
          <p:cxnSp>
            <p:nvCxnSpPr>
              <p:cNvPr id="189" name="Google Shape;189;p20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20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1" name="Google Shape;191;p20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0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3" name="Google Shape;193;p20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94" name="Google Shape;194;p20"/>
            <p:cNvGrpSpPr/>
            <p:nvPr/>
          </p:nvGrpSpPr>
          <p:grpSpPr>
            <a:xfrm>
              <a:off x="3120" y="1956"/>
              <a:ext cx="876" cy="300"/>
              <a:chOff x="2688" y="2100"/>
              <a:chExt cx="876" cy="300"/>
            </a:xfrm>
          </p:grpSpPr>
          <p:cxnSp>
            <p:nvCxnSpPr>
              <p:cNvPr id="195" name="Google Shape;195;p20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p20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7" name="Google Shape;197;p20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9" name="Google Shape;199;p20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200" name="Google Shape;200;p20"/>
            <p:cNvSpPr txBox="1"/>
            <p:nvPr/>
          </p:nvSpPr>
          <p:spPr>
            <a:xfrm>
              <a:off x="1893" y="2338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 (1)</a:t>
              </a:r>
              <a:endParaRPr/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3262" y="232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OFF </a:t>
              </a:r>
              <a:r>
                <a:rPr lang="en" sz="2400">
                  <a:latin typeface="Times New Roman"/>
                  <a:ea typeface="Times New Roman"/>
                  <a:cs typeface="Times New Roman"/>
                  <a:sym typeface="Times New Roman"/>
                </a:rPr>
                <a:t>(0)</a:t>
              </a:r>
              <a:endParaRPr/>
            </a:p>
          </p:txBody>
        </p:sp>
      </p:grpSp>
      <p:sp>
        <p:nvSpPr>
          <p:cNvPr id="202" name="Google Shape;202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21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212" name="Google Shape;212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21"/>
          <p:cNvSpPr txBox="1"/>
          <p:nvPr/>
        </p:nvSpPr>
        <p:spPr>
          <a:xfrm>
            <a:off x="355850" y="1259050"/>
            <a:ext cx="8440200" cy="18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use a 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nary digi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),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to represent the state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Storage units can be grouped together to cater for larger range of numbers.  Example: 2 switches to represent 4 values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 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" name="Google Shape;217;p21"/>
          <p:cNvGrpSpPr/>
          <p:nvPr/>
        </p:nvGrpSpPr>
        <p:grpSpPr>
          <a:xfrm>
            <a:off x="2266950" y="2479075"/>
            <a:ext cx="4610099" cy="2076450"/>
            <a:chOff x="1392" y="1668"/>
            <a:chExt cx="2904" cy="1308"/>
          </a:xfrm>
        </p:grpSpPr>
        <p:grpSp>
          <p:nvGrpSpPr>
            <p:cNvPr id="218" name="Google Shape;218;p21"/>
            <p:cNvGrpSpPr/>
            <p:nvPr/>
          </p:nvGrpSpPr>
          <p:grpSpPr>
            <a:xfrm>
              <a:off x="1392" y="2784"/>
              <a:ext cx="876" cy="24"/>
              <a:chOff x="1392" y="2376"/>
              <a:chExt cx="876" cy="24"/>
            </a:xfrm>
          </p:grpSpPr>
          <p:cxnSp>
            <p:nvCxnSpPr>
              <p:cNvPr id="219" name="Google Shape;219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20" name="Google Shape;220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21" name="Google Shape;221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3" name="Google Shape;223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24" name="Google Shape;224;p21"/>
            <p:cNvGrpSpPr/>
            <p:nvPr/>
          </p:nvGrpSpPr>
          <p:grpSpPr>
            <a:xfrm>
              <a:off x="1392" y="2496"/>
              <a:ext cx="876" cy="24"/>
              <a:chOff x="1392" y="2376"/>
              <a:chExt cx="876" cy="24"/>
            </a:xfrm>
          </p:grpSpPr>
          <p:cxnSp>
            <p:nvCxnSpPr>
              <p:cNvPr id="225" name="Google Shape;225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27" name="Google Shape;227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9" name="Google Shape;229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30" name="Google Shape;230;p21"/>
            <p:cNvGrpSpPr/>
            <p:nvPr/>
          </p:nvGrpSpPr>
          <p:grpSpPr>
            <a:xfrm>
              <a:off x="2496" y="2208"/>
              <a:ext cx="876" cy="24"/>
              <a:chOff x="1392" y="2376"/>
              <a:chExt cx="876" cy="24"/>
            </a:xfrm>
          </p:grpSpPr>
          <p:cxnSp>
            <p:nvCxnSpPr>
              <p:cNvPr id="231" name="Google Shape;231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33" name="Google Shape;233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5" name="Google Shape;235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36" name="Google Shape;236;p21"/>
            <p:cNvGrpSpPr/>
            <p:nvPr/>
          </p:nvGrpSpPr>
          <p:grpSpPr>
            <a:xfrm>
              <a:off x="2496" y="2784"/>
              <a:ext cx="876" cy="24"/>
              <a:chOff x="1392" y="2376"/>
              <a:chExt cx="876" cy="24"/>
            </a:xfrm>
          </p:grpSpPr>
          <p:cxnSp>
            <p:nvCxnSpPr>
              <p:cNvPr id="237" name="Google Shape;237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38" name="Google Shape;238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39" name="Google Shape;239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1" name="Google Shape;241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42" name="Google Shape;242;p21"/>
            <p:cNvGrpSpPr/>
            <p:nvPr/>
          </p:nvGrpSpPr>
          <p:grpSpPr>
            <a:xfrm>
              <a:off x="2496" y="2244"/>
              <a:ext cx="876" cy="300"/>
              <a:chOff x="2688" y="2100"/>
              <a:chExt cx="876" cy="300"/>
            </a:xfrm>
          </p:grpSpPr>
          <p:cxnSp>
            <p:nvCxnSpPr>
              <p:cNvPr id="243" name="Google Shape;243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45" name="Google Shape;245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7" name="Google Shape;247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48" name="Google Shape;248;p21"/>
            <p:cNvGrpSpPr/>
            <p:nvPr/>
          </p:nvGrpSpPr>
          <p:grpSpPr>
            <a:xfrm>
              <a:off x="2496" y="1668"/>
              <a:ext cx="876" cy="300"/>
              <a:chOff x="2688" y="2100"/>
              <a:chExt cx="876" cy="300"/>
            </a:xfrm>
          </p:grpSpPr>
          <p:cxnSp>
            <p:nvCxnSpPr>
              <p:cNvPr id="249" name="Google Shape;249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51" name="Google Shape;251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3" name="Google Shape;253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54" name="Google Shape;254;p21"/>
            <p:cNvGrpSpPr/>
            <p:nvPr/>
          </p:nvGrpSpPr>
          <p:grpSpPr>
            <a:xfrm>
              <a:off x="1392" y="1668"/>
              <a:ext cx="876" cy="300"/>
              <a:chOff x="2688" y="2100"/>
              <a:chExt cx="876" cy="300"/>
            </a:xfrm>
          </p:grpSpPr>
          <p:cxnSp>
            <p:nvCxnSpPr>
              <p:cNvPr id="255" name="Google Shape;255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57" name="Google Shape;257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9" name="Google Shape;259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60" name="Google Shape;260;p21"/>
            <p:cNvGrpSpPr/>
            <p:nvPr/>
          </p:nvGrpSpPr>
          <p:grpSpPr>
            <a:xfrm>
              <a:off x="1392" y="1956"/>
              <a:ext cx="876" cy="300"/>
              <a:chOff x="2688" y="2100"/>
              <a:chExt cx="876" cy="300"/>
            </a:xfrm>
          </p:grpSpPr>
          <p:cxnSp>
            <p:nvCxnSpPr>
              <p:cNvPr id="261" name="Google Shape;261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63" name="Google Shape;263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5" name="Google Shape;265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266" name="Google Shape;266;p21"/>
            <p:cNvSpPr txBox="1"/>
            <p:nvPr/>
          </p:nvSpPr>
          <p:spPr>
            <a:xfrm>
              <a:off x="3696" y="1776"/>
              <a:ext cx="6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 (00)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(01)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(10)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(11)</a:t>
              </a:r>
              <a:endParaRPr/>
            </a:p>
          </p:txBody>
        </p:sp>
      </p:grpSp>
      <p:sp>
        <p:nvSpPr>
          <p:cNvPr id="267" name="Google Shape;267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355850" y="1259050"/>
            <a:ext cx="8440200" cy="21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bits can represent 2</a:t>
            </a:r>
            <a:r>
              <a:rPr baseline="30000"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different values.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values,                  bits are needed.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1160100" y="1709050"/>
            <a:ext cx="68238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 bit  → represents up to 2 values (0 or 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2 bits → rep. up to 4 values (00, 01, 10 or 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3 bits → rep. up to 8 values (000, 001, 010. …, 110, 111)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4 bits → rep. up to 16 values (0000, 0001, 0010, …, 1111)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78" name="Google Shape;278;p22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279" name="Google Shape;27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22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 </a:t>
            </a: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3" name="Google Shape;2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0840" y="2952606"/>
            <a:ext cx="103186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/>
          <p:nvPr/>
        </p:nvSpPr>
        <p:spPr>
          <a:xfrm>
            <a:off x="2217450" y="3312650"/>
            <a:ext cx="47091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32 values     → requires 5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64 values     → requires 6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1024 values → requires 10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40 values     → requires 6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100 values   → requires 7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351900" y="791050"/>
            <a:ext cx="84402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Decimal number system, symbols = { 0, 1, 2, 3, …, 9 }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Position is important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(7594)</a:t>
            </a:r>
            <a:r>
              <a:rPr b="1"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(7x10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(5x10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(9x10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(4x10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… 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=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rgbClr val="22226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(2.75)</a:t>
            </a:r>
            <a:r>
              <a:rPr b="1"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(2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(7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(5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rgbClr val="222268"/>
              </a:buClr>
              <a:buSzPts val="2000"/>
              <a:buChar char="•"/>
            </a:pP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… 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. 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… 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=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m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-m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5" name="Google Shape;295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6" name="Google Shape;296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" name="Google Shape;299;p2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Positional Notations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9" name="Google Shape;309;p24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310" name="Google Shape;310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4"/>
          <p:cNvSpPr txBox="1"/>
          <p:nvPr/>
        </p:nvSpPr>
        <p:spPr>
          <a:xfrm>
            <a:off x="355850" y="1259050"/>
            <a:ext cx="84402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2): weights in powers-of-2. Binary digits (bits):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8): weights in powers-of-8. Octal digits: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16): weights in powers-of-16. Hexadecimal digits: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0,1,2,3,4,5,6,7,8,9,A,B,C,D,E,F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when base is r, coefficient values range from 0 to r-1.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Other Number Systems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5"/>
          <p:cNvSpPr txBox="1"/>
          <p:nvPr/>
        </p:nvSpPr>
        <p:spPr>
          <a:xfrm>
            <a:off x="209775" y="316175"/>
            <a:ext cx="90459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Other Number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Systems [cont]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376400" y="1538275"/>
            <a:ext cx="3087600" cy="3267000"/>
          </a:xfrm>
          <a:prstGeom prst="roundRect">
            <a:avLst>
              <a:gd fmla="val 3306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5" name="Google Shape;325;p25"/>
          <p:cNvGrpSpPr/>
          <p:nvPr/>
        </p:nvGrpSpPr>
        <p:grpSpPr>
          <a:xfrm>
            <a:off x="422950" y="1620721"/>
            <a:ext cx="277873" cy="68400"/>
            <a:chOff x="411700" y="2416840"/>
            <a:chExt cx="277873" cy="68400"/>
          </a:xfrm>
        </p:grpSpPr>
        <p:sp>
          <p:nvSpPr>
            <p:cNvPr id="326" name="Google Shape;32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5"/>
          <p:cNvSpPr txBox="1"/>
          <p:nvPr/>
        </p:nvSpPr>
        <p:spPr>
          <a:xfrm>
            <a:off x="342275" y="1612925"/>
            <a:ext cx="30876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07009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2): weights in powers-of-2. Binary digits (bits):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0700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8): weights in powers-of-8. Octal digits: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0700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16): weights in powers-of-16. Hexadecimal digits: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0,1,2,3,4,5,6,7,8,9,A,B,C,D,E,F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0" name="Google Shape;330;p25"/>
          <p:cNvGraphicFramePr/>
          <p:nvPr/>
        </p:nvGraphicFramePr>
        <p:xfrm>
          <a:off x="3973225" y="356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{2BA60E50-417B-46D5-A1A8-42CD7DCB61F0}</a:tableStyleId>
              </a:tblPr>
              <a:tblGrid>
                <a:gridCol w="1124800"/>
                <a:gridCol w="1007225"/>
                <a:gridCol w="939875"/>
                <a:gridCol w="1427325"/>
              </a:tblGrid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Binary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Octal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Decimal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Hexadecimal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</a:tr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8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8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9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9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D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E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F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  <p:sp>
        <p:nvSpPr>
          <p:cNvPr id="331" name="Google Shape;331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351900" y="791050"/>
            <a:ext cx="45108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***Formula= ∑ digit * source_base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position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(1101.101)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baseline="30000"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8 + 4 + 1 + 0.5 + 0.125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(13.625)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(572.6)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5×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7×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2×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+ 6×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	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320 + 56 + 2 + 0.75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(378.75)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1" name="Google Shape;341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42" name="Google Shape;342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2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Base-R to Decimal Conversion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5195725" y="791050"/>
            <a:ext cx="38721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2A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.8)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+ 10×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+ 8×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	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32 + 10 + 0.5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(42.5)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(341.24)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4×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+ 2×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+ 4×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75 + 20 + 1 + 0.4 + 0.16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(96.56)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7" name="Google Shape;347;p26"/>
          <p:cNvCxnSpPr/>
          <p:nvPr/>
        </p:nvCxnSpPr>
        <p:spPr>
          <a:xfrm>
            <a:off x="4870950" y="97855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6"/>
          <p:cNvCxnSpPr/>
          <p:nvPr/>
        </p:nvCxnSpPr>
        <p:spPr>
          <a:xfrm>
            <a:off x="129300" y="273312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7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58" name="Google Shape;358;p27"/>
          <p:cNvSpPr txBox="1"/>
          <p:nvPr/>
        </p:nvSpPr>
        <p:spPr>
          <a:xfrm>
            <a:off x="351900" y="809940"/>
            <a:ext cx="81555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9999"/>
              </a:buClr>
              <a:buSzPts val="2520"/>
              <a:buFont typeface="Lexend"/>
              <a:buChar char="❖"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Whole numbers: repeated </a:t>
            </a:r>
            <a:r>
              <a:rPr b="1"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division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-by-R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9999"/>
              </a:buClr>
              <a:buSzPts val="2520"/>
              <a:buFont typeface="Lexend"/>
              <a:buChar char="❖"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Fractions: repeated </a:t>
            </a:r>
            <a:r>
              <a:rPr b="1"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multiplication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-by-R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9" name="Google Shape;359;p27"/>
          <p:cNvGrpSpPr/>
          <p:nvPr/>
        </p:nvGrpSpPr>
        <p:grpSpPr>
          <a:xfrm>
            <a:off x="50480" y="125357"/>
            <a:ext cx="277873" cy="70089"/>
            <a:chOff x="411700" y="2416840"/>
            <a:chExt cx="277873" cy="68400"/>
          </a:xfrm>
        </p:grpSpPr>
        <p:sp>
          <p:nvSpPr>
            <p:cNvPr id="360" name="Google Shape;360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3" name="Google Shape;363;p27"/>
          <p:cNvSpPr txBox="1"/>
          <p:nvPr/>
        </p:nvSpPr>
        <p:spPr>
          <a:xfrm>
            <a:off x="209775" y="167190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Decimal to Base-R Conversion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1" name="Google Shape;3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73" name="Google Shape;373;p28"/>
          <p:cNvSpPr txBox="1"/>
          <p:nvPr/>
        </p:nvSpPr>
        <p:spPr>
          <a:xfrm>
            <a:off x="351900" y="791050"/>
            <a:ext cx="4903200" cy="3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6924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▪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a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whole number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b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use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successive division by 2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until the quotient is 0. The remainders form the answer, with the first remainder as the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least significant bit (LSB)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the last as the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most significant bit (MSB)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(43)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(101011)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-25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4" name="Google Shape;374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75" name="Google Shape;375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2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Repeated Division-by-2 Method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9" name="Google Shape;379;p28"/>
          <p:cNvCxnSpPr/>
          <p:nvPr/>
        </p:nvCxnSpPr>
        <p:spPr>
          <a:xfrm>
            <a:off x="5211025" y="9856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80" name="Google Shape;380;p2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4950" y="1196475"/>
            <a:ext cx="3250800" cy="30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9"/>
          <p:cNvSpPr/>
          <p:nvPr/>
        </p:nvSpPr>
        <p:spPr>
          <a:xfrm>
            <a:off x="0" y="25350"/>
            <a:ext cx="9144000" cy="48135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90" name="Google Shape;390;p29"/>
          <p:cNvSpPr txBox="1"/>
          <p:nvPr/>
        </p:nvSpPr>
        <p:spPr>
          <a:xfrm>
            <a:off x="351900" y="791050"/>
            <a:ext cx="49032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97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▪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decimal fractions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binary,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repeated multiplication by 2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used, until the fractional product is 0 (or until the desired number of decimal places). The carried digits, or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carries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produce the answer, with the first carry as the MSB, and the last as the LSB.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96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(0.3125)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(.0101)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1" name="Google Shape;391;p2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92" name="Google Shape;392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p29"/>
          <p:cNvSpPr txBox="1"/>
          <p:nvPr/>
        </p:nvSpPr>
        <p:spPr>
          <a:xfrm>
            <a:off x="209775" y="163775"/>
            <a:ext cx="9045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Lexend"/>
                <a:ea typeface="Lexend"/>
                <a:cs typeface="Lexend"/>
                <a:sym typeface="Lexend"/>
              </a:rPr>
              <a:t>Repeated Multiplication-by-2 Method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6" name="Google Shape;396;p29"/>
          <p:cNvCxnSpPr/>
          <p:nvPr/>
        </p:nvCxnSpPr>
        <p:spPr>
          <a:xfrm>
            <a:off x="5211025" y="9856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7" name="Google Shape;397;p2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1025" y="1773250"/>
            <a:ext cx="3889800" cy="18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06" name="Google Shape;406;p30"/>
          <p:cNvSpPr txBox="1"/>
          <p:nvPr/>
        </p:nvSpPr>
        <p:spPr>
          <a:xfrm>
            <a:off x="209775" y="316175"/>
            <a:ext cx="9045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Lexend"/>
                <a:ea typeface="Lexend"/>
                <a:cs typeface="Lexend"/>
                <a:sym typeface="Lexend"/>
              </a:rPr>
              <a:t>Repeated Multiplication-by-2 Method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30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0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9" name="Google Shape;409;p30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410" name="Google Shape;410;p30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3" name="Google Shape;413;p30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414" name="Google Shape;414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30"/>
          <p:cNvSpPr txBox="1"/>
          <p:nvPr/>
        </p:nvSpPr>
        <p:spPr>
          <a:xfrm>
            <a:off x="355375" y="1956875"/>
            <a:ext cx="38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Division by base of target no. system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Remainders are accumulated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By division we obtain LSB to MSB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8" name="Google Shape;418;p30"/>
          <p:cNvSpPr txBox="1"/>
          <p:nvPr/>
        </p:nvSpPr>
        <p:spPr>
          <a:xfrm>
            <a:off x="4819250" y="1956875"/>
            <a:ext cx="38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Multiplication by base of target no. system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Integers are accumulated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By multiplication we obtain MSB to LSB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9" name="Google Shape;419;p30"/>
          <p:cNvSpPr txBox="1"/>
          <p:nvPr/>
        </p:nvSpPr>
        <p:spPr>
          <a:xfrm>
            <a:off x="787975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0"/>
          <p:cNvSpPr txBox="1"/>
          <p:nvPr/>
        </p:nvSpPr>
        <p:spPr>
          <a:xfrm>
            <a:off x="5251850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8" name="Google Shape;4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351900" y="791050"/>
            <a:ext cx="84942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 → Octal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Partition in groups of 3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(10 111 011 001 . 101 110)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(2731.56)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 → 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reverse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(2731.56)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(10 111 011 001 . 101 110)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 → Hexadecimal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Partition in groups of 4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(101 1101 1001 . 1011 1000)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(5D9.B8)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 → 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reverse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(5D9.B8)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(101 1101 1001 . 1011 1000)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31" name="Google Shape;431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32" name="Google Shape;432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31"/>
          <p:cNvSpPr txBox="1"/>
          <p:nvPr/>
        </p:nvSpPr>
        <p:spPr>
          <a:xfrm>
            <a:off x="209775" y="163775"/>
            <a:ext cx="9045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Lexend"/>
                <a:ea typeface="Lexend"/>
                <a:cs typeface="Lexend"/>
                <a:sym typeface="Lexend"/>
              </a:rPr>
              <a:t>Binary-Octal/Hexadecimal Conversion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31"/>
          <p:cNvSpPr/>
          <p:nvPr/>
        </p:nvSpPr>
        <p:spPr>
          <a:xfrm rot="-5400000">
            <a:off x="13488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1"/>
          <p:cNvSpPr/>
          <p:nvPr/>
        </p:nvSpPr>
        <p:spPr>
          <a:xfrm rot="-5400000">
            <a:off x="18822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1"/>
          <p:cNvSpPr/>
          <p:nvPr/>
        </p:nvSpPr>
        <p:spPr>
          <a:xfrm rot="-5400000">
            <a:off x="24156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1"/>
          <p:cNvSpPr/>
          <p:nvPr/>
        </p:nvSpPr>
        <p:spPr>
          <a:xfrm rot="-5400000">
            <a:off x="3010987" y="1487112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1"/>
          <p:cNvSpPr/>
          <p:nvPr/>
        </p:nvSpPr>
        <p:spPr>
          <a:xfrm rot="-5400000">
            <a:off x="375552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1"/>
          <p:cNvSpPr/>
          <p:nvPr/>
        </p:nvSpPr>
        <p:spPr>
          <a:xfrm rot="-5400000">
            <a:off x="4393700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1"/>
          <p:cNvSpPr/>
          <p:nvPr/>
        </p:nvSpPr>
        <p:spPr>
          <a:xfrm rot="-5400000">
            <a:off x="1476825" y="33204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1"/>
          <p:cNvSpPr/>
          <p:nvPr/>
        </p:nvSpPr>
        <p:spPr>
          <a:xfrm rot="-5400000">
            <a:off x="2080912" y="3225949"/>
            <a:ext cx="158700" cy="576300"/>
          </a:xfrm>
          <a:prstGeom prst="leftBrace">
            <a:avLst>
              <a:gd fmla="val 496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1"/>
          <p:cNvSpPr/>
          <p:nvPr/>
        </p:nvSpPr>
        <p:spPr>
          <a:xfrm rot="-5400000">
            <a:off x="2843662" y="3206100"/>
            <a:ext cx="152400" cy="609600"/>
          </a:xfrm>
          <a:prstGeom prst="leftBrace">
            <a:avLst>
              <a:gd fmla="val 45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1"/>
          <p:cNvSpPr/>
          <p:nvPr/>
        </p:nvSpPr>
        <p:spPr>
          <a:xfrm rot="-5400000">
            <a:off x="3773125" y="3189450"/>
            <a:ext cx="152400" cy="642900"/>
          </a:xfrm>
          <a:prstGeom prst="leftBrace">
            <a:avLst>
              <a:gd fmla="val 427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1"/>
          <p:cNvSpPr/>
          <p:nvPr/>
        </p:nvSpPr>
        <p:spPr>
          <a:xfrm rot="-5400000">
            <a:off x="4550962" y="3175199"/>
            <a:ext cx="152400" cy="671400"/>
          </a:xfrm>
          <a:prstGeom prst="leftBrace">
            <a:avLst>
              <a:gd fmla="val 408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9838" y="2930820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55" name="Google Shape;45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57" name="Google Shape;457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58" name="Google Shape;458;p32"/>
          <p:cNvSpPr txBox="1"/>
          <p:nvPr/>
        </p:nvSpPr>
        <p:spPr>
          <a:xfrm>
            <a:off x="351900" y="791050"/>
            <a:ext cx="84942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Try converting this to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(10110001101011.111100000110)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octal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b) hexadecimal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(2) Try converting these to binary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	a) (673.124)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	b) (306.D)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59" name="Google Shape;459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60" name="Google Shape;460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3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1" name="Google Shape;471;p3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404638" y="2321220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72" name="Google Shape;47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3966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74" name="Google Shape;474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351900" y="791050"/>
            <a:ext cx="8494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1.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(26153.7406)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b) (2C6B.F06)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2. a) (110 111 011 . 001 010 100)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b) (0011 0000 0110 . 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76" name="Google Shape;476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7" name="Google Shape;477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3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 Answers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89" name="Google Shape;489;p34"/>
          <p:cNvSpPr txBox="1"/>
          <p:nvPr/>
        </p:nvSpPr>
        <p:spPr>
          <a:xfrm>
            <a:off x="209775" y="316175"/>
            <a:ext cx="90459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Binary Addition: Addition Rules w/Carries</a:t>
            </a:r>
            <a:endParaRPr sz="3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2" name="Google Shape;492;p34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493" name="Google Shape;493;p34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4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6" name="Google Shape;496;p34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497" name="Google Shape;497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0" name="Google Shape;500;p34"/>
          <p:cNvSpPr txBox="1"/>
          <p:nvPr/>
        </p:nvSpPr>
        <p:spPr>
          <a:xfrm>
            <a:off x="355375" y="1728275"/>
            <a:ext cx="3891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0 + 0 = 0 0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( 0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0 + 1 = 0 1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( 1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1 + 0 = 0 1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( 1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1 + 1 = 1 0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( 0 with a 1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01" name="Google Shape;501;p34"/>
          <p:cNvSpPr txBox="1"/>
          <p:nvPr/>
        </p:nvSpPr>
        <p:spPr>
          <a:xfrm>
            <a:off x="4819250" y="1786625"/>
            <a:ext cx="3891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0+0+0 = 0 0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(0 with 0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0+0+1 = 0 1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(1 with 0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0+1+1 = 1 0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(0 with 1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1+1+1 = 1 1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(1 with 1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787975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2 bit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p34"/>
          <p:cNvSpPr txBox="1"/>
          <p:nvPr/>
        </p:nvSpPr>
        <p:spPr>
          <a:xfrm>
            <a:off x="5251850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3 bit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5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1" name="Google Shape;5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13" name="Google Shape;513;p35"/>
          <p:cNvSpPr txBox="1"/>
          <p:nvPr/>
        </p:nvSpPr>
        <p:spPr>
          <a:xfrm>
            <a:off x="351900" y="791050"/>
            <a:ext cx="815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14" name="Google Shape;514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15" name="Google Shape;515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8" name="Google Shape;518;p3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Adding Binary Numbers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19" name="Google Shape;519;p35"/>
          <p:cNvGrpSpPr/>
          <p:nvPr/>
        </p:nvGrpSpPr>
        <p:grpSpPr>
          <a:xfrm>
            <a:off x="1751475" y="1905000"/>
            <a:ext cx="1195125" cy="1428750"/>
            <a:chOff x="241" y="1680"/>
            <a:chExt cx="743" cy="900"/>
          </a:xfrm>
        </p:grpSpPr>
        <p:sp>
          <p:nvSpPr>
            <p:cNvPr id="520" name="Google Shape;520;p35"/>
            <p:cNvSpPr txBox="1"/>
            <p:nvPr/>
          </p:nvSpPr>
          <p:spPr>
            <a:xfrm>
              <a:off x="241" y="1680"/>
              <a:ext cx="6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28</a:t>
              </a:r>
              <a:endParaRPr i="0" sz="32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-4318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Lexend"/>
                <a:buChar char="+"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521" name="Google Shape;521;p35"/>
            <p:cNvCxnSpPr/>
            <p:nvPr/>
          </p:nvCxnSpPr>
          <p:spPr>
            <a:xfrm>
              <a:off x="384" y="2352"/>
              <a:ext cx="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522" name="Google Shape;522;p35"/>
          <p:cNvSpPr txBox="1"/>
          <p:nvPr/>
        </p:nvSpPr>
        <p:spPr>
          <a:xfrm>
            <a:off x="3276600" y="1906587"/>
            <a:ext cx="3733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 </a:t>
            </a:r>
            <a:r>
              <a:rPr b="0" i="0" lang="en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00011100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</a:t>
            </a:r>
            <a:r>
              <a:rPr b="0" i="0" lang="en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 00101011</a:t>
            </a:r>
            <a:endParaRPr/>
          </a:p>
        </p:txBody>
      </p:sp>
      <p:cxnSp>
        <p:nvCxnSpPr>
          <p:cNvPr id="523" name="Google Shape;523;p35"/>
          <p:cNvCxnSpPr/>
          <p:nvPr/>
        </p:nvCxnSpPr>
        <p:spPr>
          <a:xfrm>
            <a:off x="4746625" y="2973387"/>
            <a:ext cx="2193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524" name="Google Shape;524;p35"/>
          <p:cNvGrpSpPr/>
          <p:nvPr/>
        </p:nvGrpSpPr>
        <p:grpSpPr>
          <a:xfrm>
            <a:off x="6426200" y="1725612"/>
            <a:ext cx="647700" cy="1762125"/>
            <a:chOff x="3252" y="1182"/>
            <a:chExt cx="408" cy="1110"/>
          </a:xfrm>
        </p:grpSpPr>
        <p:sp>
          <p:nvSpPr>
            <p:cNvPr id="525" name="Google Shape;525;p35"/>
            <p:cNvSpPr txBox="1"/>
            <p:nvPr/>
          </p:nvSpPr>
          <p:spPr>
            <a:xfrm>
              <a:off x="3360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26" name="Google Shape;526;p35"/>
            <p:cNvSpPr txBox="1"/>
            <p:nvPr/>
          </p:nvSpPr>
          <p:spPr>
            <a:xfrm>
              <a:off x="3252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527" name="Google Shape;527;p35"/>
          <p:cNvGrpSpPr/>
          <p:nvPr/>
        </p:nvGrpSpPr>
        <p:grpSpPr>
          <a:xfrm>
            <a:off x="5753100" y="1725612"/>
            <a:ext cx="649287" cy="1762125"/>
            <a:chOff x="2828" y="1182"/>
            <a:chExt cx="409" cy="1110"/>
          </a:xfrm>
        </p:grpSpPr>
        <p:sp>
          <p:nvSpPr>
            <p:cNvPr id="528" name="Google Shape;528;p35"/>
            <p:cNvSpPr txBox="1"/>
            <p:nvPr/>
          </p:nvSpPr>
          <p:spPr>
            <a:xfrm>
              <a:off x="2937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29" name="Google Shape;529;p35"/>
            <p:cNvSpPr txBox="1"/>
            <p:nvPr/>
          </p:nvSpPr>
          <p:spPr>
            <a:xfrm>
              <a:off x="2828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530" name="Google Shape;530;p35"/>
          <p:cNvGrpSpPr/>
          <p:nvPr/>
        </p:nvGrpSpPr>
        <p:grpSpPr>
          <a:xfrm>
            <a:off x="6202362" y="1725612"/>
            <a:ext cx="647700" cy="1762125"/>
            <a:chOff x="3111" y="1182"/>
            <a:chExt cx="408" cy="1110"/>
          </a:xfrm>
        </p:grpSpPr>
        <p:sp>
          <p:nvSpPr>
            <p:cNvPr id="531" name="Google Shape;531;p35"/>
            <p:cNvSpPr txBox="1"/>
            <p:nvPr/>
          </p:nvSpPr>
          <p:spPr>
            <a:xfrm>
              <a:off x="3219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32" name="Google Shape;532;p35"/>
            <p:cNvSpPr txBox="1"/>
            <p:nvPr/>
          </p:nvSpPr>
          <p:spPr>
            <a:xfrm>
              <a:off x="3111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533" name="Google Shape;533;p35"/>
          <p:cNvGrpSpPr/>
          <p:nvPr/>
        </p:nvGrpSpPr>
        <p:grpSpPr>
          <a:xfrm>
            <a:off x="5976937" y="1725612"/>
            <a:ext cx="649287" cy="1762125"/>
            <a:chOff x="2969" y="1182"/>
            <a:chExt cx="409" cy="1110"/>
          </a:xfrm>
        </p:grpSpPr>
        <p:sp>
          <p:nvSpPr>
            <p:cNvPr id="534" name="Google Shape;534;p35"/>
            <p:cNvSpPr txBox="1"/>
            <p:nvPr/>
          </p:nvSpPr>
          <p:spPr>
            <a:xfrm>
              <a:off x="2969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35" name="Google Shape;535;p35"/>
            <p:cNvSpPr txBox="1"/>
            <p:nvPr/>
          </p:nvSpPr>
          <p:spPr>
            <a:xfrm>
              <a:off x="3078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536" name="Google Shape;536;p35"/>
          <p:cNvGrpSpPr/>
          <p:nvPr/>
        </p:nvGrpSpPr>
        <p:grpSpPr>
          <a:xfrm>
            <a:off x="5527675" y="1725612"/>
            <a:ext cx="650875" cy="1762125"/>
            <a:chOff x="2686" y="1182"/>
            <a:chExt cx="410" cy="1110"/>
          </a:xfrm>
        </p:grpSpPr>
        <p:sp>
          <p:nvSpPr>
            <p:cNvPr id="537" name="Google Shape;537;p35"/>
            <p:cNvSpPr txBox="1"/>
            <p:nvPr/>
          </p:nvSpPr>
          <p:spPr>
            <a:xfrm>
              <a:off x="2796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38" name="Google Shape;538;p35"/>
            <p:cNvSpPr txBox="1"/>
            <p:nvPr/>
          </p:nvSpPr>
          <p:spPr>
            <a:xfrm>
              <a:off x="2686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539" name="Google Shape;539;p35"/>
          <p:cNvGrpSpPr/>
          <p:nvPr/>
        </p:nvGrpSpPr>
        <p:grpSpPr>
          <a:xfrm>
            <a:off x="5302250" y="1725612"/>
            <a:ext cx="652462" cy="1762125"/>
            <a:chOff x="2544" y="1182"/>
            <a:chExt cx="411" cy="1110"/>
          </a:xfrm>
        </p:grpSpPr>
        <p:sp>
          <p:nvSpPr>
            <p:cNvPr id="540" name="Google Shape;540;p35"/>
            <p:cNvSpPr txBox="1"/>
            <p:nvPr/>
          </p:nvSpPr>
          <p:spPr>
            <a:xfrm>
              <a:off x="2655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41" name="Google Shape;541;p35"/>
            <p:cNvSpPr txBox="1"/>
            <p:nvPr/>
          </p:nvSpPr>
          <p:spPr>
            <a:xfrm>
              <a:off x="2544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542" name="Google Shape;542;p35"/>
          <p:cNvSpPr txBox="1"/>
          <p:nvPr/>
        </p:nvSpPr>
        <p:spPr>
          <a:xfrm>
            <a:off x="5029200" y="3011487"/>
            <a:ext cx="409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grpSp>
        <p:nvGrpSpPr>
          <p:cNvPr id="543" name="Google Shape;543;p35"/>
          <p:cNvGrpSpPr/>
          <p:nvPr/>
        </p:nvGrpSpPr>
        <p:grpSpPr>
          <a:xfrm>
            <a:off x="5083175" y="1725612"/>
            <a:ext cx="652462" cy="1762125"/>
            <a:chOff x="2544" y="1182"/>
            <a:chExt cx="411" cy="1110"/>
          </a:xfrm>
        </p:grpSpPr>
        <p:sp>
          <p:nvSpPr>
            <p:cNvPr id="544" name="Google Shape;544;p35"/>
            <p:cNvSpPr txBox="1"/>
            <p:nvPr/>
          </p:nvSpPr>
          <p:spPr>
            <a:xfrm>
              <a:off x="2655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45" name="Google Shape;545;p35"/>
            <p:cNvSpPr txBox="1"/>
            <p:nvPr/>
          </p:nvSpPr>
          <p:spPr>
            <a:xfrm>
              <a:off x="2544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sp>
        <p:nvSpPr>
          <p:cNvPr id="546" name="Google Shape;546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6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3" name="Google Shape;55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3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26972"/>
            <a:ext cx="779088" cy="40331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55" name="Google Shape;555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6" name="Google Shape;556;p36"/>
          <p:cNvSpPr txBox="1"/>
          <p:nvPr/>
        </p:nvSpPr>
        <p:spPr>
          <a:xfrm>
            <a:off x="351900" y="809940"/>
            <a:ext cx="84942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Add (101101)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(100111)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270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57" name="Google Shape;557;p36"/>
          <p:cNvGrpSpPr/>
          <p:nvPr/>
        </p:nvGrpSpPr>
        <p:grpSpPr>
          <a:xfrm>
            <a:off x="50480" y="125357"/>
            <a:ext cx="277873" cy="70089"/>
            <a:chOff x="411700" y="2416840"/>
            <a:chExt cx="277873" cy="68400"/>
          </a:xfrm>
        </p:grpSpPr>
        <p:sp>
          <p:nvSpPr>
            <p:cNvPr id="558" name="Google Shape;558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1" name="Google Shape;561;p36"/>
          <p:cNvSpPr txBox="1"/>
          <p:nvPr/>
        </p:nvSpPr>
        <p:spPr>
          <a:xfrm>
            <a:off x="209775" y="167190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7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9" name="Google Shape;56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7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71" name="Google Shape;571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72" name="Google Shape;572;p37"/>
          <p:cNvSpPr txBox="1"/>
          <p:nvPr/>
        </p:nvSpPr>
        <p:spPr>
          <a:xfrm>
            <a:off x="351900" y="791050"/>
            <a:ext cx="84942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(3) 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1010100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270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Working: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73" name="Google Shape;573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74" name="Google Shape;574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7" name="Google Shape;577;p3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 Solution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78" name="Google Shape;578;p37"/>
          <p:cNvGrpSpPr/>
          <p:nvPr/>
        </p:nvGrpSpPr>
        <p:grpSpPr>
          <a:xfrm>
            <a:off x="2440000" y="2266962"/>
            <a:ext cx="3358787" cy="1759145"/>
            <a:chOff x="261" y="890"/>
            <a:chExt cx="2292" cy="1200"/>
          </a:xfrm>
        </p:grpSpPr>
        <p:sp>
          <p:nvSpPr>
            <p:cNvPr id="579" name="Google Shape;579;p37"/>
            <p:cNvSpPr txBox="1"/>
            <p:nvPr/>
          </p:nvSpPr>
          <p:spPr>
            <a:xfrm>
              <a:off x="467" y="890"/>
              <a:ext cx="18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Augend:    101101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Addend:  +100111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20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80" name="Google Shape;580;p37"/>
            <p:cNvSpPr txBox="1"/>
            <p:nvPr/>
          </p:nvSpPr>
          <p:spPr>
            <a:xfrm>
              <a:off x="453" y="1498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Sum:        1010100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581" name="Google Shape;581;p37"/>
            <p:cNvCxnSpPr/>
            <p:nvPr/>
          </p:nvCxnSpPr>
          <p:spPr>
            <a:xfrm>
              <a:off x="261" y="1468"/>
              <a:ext cx="2100" cy="0"/>
            </a:xfrm>
            <a:prstGeom prst="straightConnector1">
              <a:avLst/>
            </a:prstGeom>
            <a:noFill/>
            <a:ln cap="flat" cmpd="sng" w="28575">
              <a:solidFill>
                <a:srgbClr val="33339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582" name="Google Shape;582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3" name="Google Shape;583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8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9" name="Google Shape;5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8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9" y="847175"/>
            <a:ext cx="1836649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91" name="Google Shape;591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92" name="Google Shape;592;p38"/>
          <p:cNvSpPr txBox="1"/>
          <p:nvPr/>
        </p:nvSpPr>
        <p:spPr>
          <a:xfrm>
            <a:off x="351900" y="791050"/>
            <a:ext cx="32508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+(41)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(24)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</a:t>
            </a:r>
            <a:r>
              <a:rPr lang="en" sz="2400">
                <a:solidFill>
                  <a:srgbClr val="99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 1 </a:t>
            </a:r>
            <a:endParaRPr sz="2400">
              <a:solidFill>
                <a:srgbClr val="FF000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________________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(</a:t>
            </a:r>
            <a:r>
              <a:rPr lang="en" sz="2400">
                <a:solidFill>
                  <a:srgbClr val="274E13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38761D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6AA84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(Ans)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93" name="Google Shape;593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94" name="Google Shape;594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7" name="Google Shape;597;p3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Addition of 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8" name="Google Shape;598;p38"/>
          <p:cNvSpPr txBox="1"/>
          <p:nvPr/>
        </p:nvSpPr>
        <p:spPr>
          <a:xfrm>
            <a:off x="4112425" y="847175"/>
            <a:ext cx="32508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9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9%5=</a:t>
            </a:r>
            <a:r>
              <a:rPr lang="en" sz="2400">
                <a:solidFill>
                  <a:srgbClr val="6AA84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(sum)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9/5=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(carry)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10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10%5=</a:t>
            </a:r>
            <a:r>
              <a:rPr lang="en" sz="2400">
                <a:solidFill>
                  <a:srgbClr val="38761D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(sum)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10/5=</a:t>
            </a:r>
            <a:r>
              <a:rPr lang="en" sz="2400">
                <a:solidFill>
                  <a:srgbClr val="CC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(carry)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99" name="Google Shape;599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0" name="Google Shape;600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9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6" name="Google Shape;606;p39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2433963"/>
            <a:ext cx="1689702" cy="401218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07" name="Google Shape;60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9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9" y="922297"/>
            <a:ext cx="779088" cy="401218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09" name="Google Shape;609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10" name="Google Shape;610;p39"/>
          <p:cNvSpPr txBox="1"/>
          <p:nvPr/>
        </p:nvSpPr>
        <p:spPr>
          <a:xfrm>
            <a:off x="351901" y="805872"/>
            <a:ext cx="84942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(4)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(FF)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+(F1)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(b) (66)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7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(55)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7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(1F0)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(154)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7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11" name="Google Shape;611;p39"/>
          <p:cNvGrpSpPr/>
          <p:nvPr/>
        </p:nvGrpSpPr>
        <p:grpSpPr>
          <a:xfrm>
            <a:off x="50481" y="124871"/>
            <a:ext cx="277873" cy="69727"/>
            <a:chOff x="411700" y="2416840"/>
            <a:chExt cx="277873" cy="68400"/>
          </a:xfrm>
        </p:grpSpPr>
        <p:sp>
          <p:nvSpPr>
            <p:cNvPr id="612" name="Google Shape;612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5" name="Google Shape;615;p39"/>
          <p:cNvSpPr txBox="1"/>
          <p:nvPr/>
        </p:nvSpPr>
        <p:spPr>
          <a:xfrm>
            <a:off x="209776" y="166454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7" name="Google Shape;617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24" name="Google Shape;624;p40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5" name="Google Shape;625;p40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626" name="Google Shape;626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9" name="Google Shape;629;p40"/>
          <p:cNvSpPr txBox="1"/>
          <p:nvPr/>
        </p:nvSpPr>
        <p:spPr>
          <a:xfrm>
            <a:off x="355850" y="1259050"/>
            <a:ext cx="84402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multiplication of two binary numbers can be carried out in the same manner as the decimal multiplication.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 decimal multiplication, only two values are generated as the outcome of multiplying the multiplication bit by 0 or 1 in the binary multiplication. These values are either 0 or 1.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binary multiplication can also be considered as repeated binary addition. Therefore, the binary multiplication is performed in conjunction with the binary addition operation.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0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Multiplication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1" name="Google Shape;631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2" name="Google Shape;632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1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8" name="Google Shape;63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40" name="Google Shape;640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41" name="Google Shape;641;p41"/>
          <p:cNvSpPr txBox="1"/>
          <p:nvPr/>
        </p:nvSpPr>
        <p:spPr>
          <a:xfrm>
            <a:off x="351900" y="791050"/>
            <a:ext cx="8494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(5)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Multiply 1011 with 101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Multiplicand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Multiplier                                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 101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Partial Product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0000X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                  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1011XX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Product 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110111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42" name="Google Shape;642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3" name="Google Shape;643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4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2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4" name="Google Shape;65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56" name="Google Shape;656;p42"/>
          <p:cNvSpPr txBox="1"/>
          <p:nvPr/>
        </p:nvSpPr>
        <p:spPr>
          <a:xfrm>
            <a:off x="351900" y="791050"/>
            <a:ext cx="2071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2A3C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xB7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127A4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1D094X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1E30E4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657" name="Google Shape;657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58" name="Google Shape;658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1" name="Google Shape;661;p4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Multiplication with 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2"/>
          <p:cNvSpPr txBox="1"/>
          <p:nvPr/>
        </p:nvSpPr>
        <p:spPr>
          <a:xfrm>
            <a:off x="2653575" y="847175"/>
            <a:ext cx="6064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7*C = 7*12 = 84 =(write 4, carry 5)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7*3+5 = 26 = 1A (write A, carry 1)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7*A+1 = 71 = 0x47 (write 7, carry 4)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7*2+4 = 18 = 0x12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completes the 7*2A3C = 127A4 partial product. 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B*C = 11*12 = 132 = (write 4, carry 8)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B*3+8 = 11*3+8 = 41 = (write 9, carry 2)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B*A+2 = 11*10+2 = 112 = (write 0, carry 7)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B*2+7 = 11*2+7 = 29 = 1D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completes the B[0]*2A3C = 1D094[0] partial product, where I'm noting the [0] digits to remind us this is in the 16s column. 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Adding the partial products: 127A4 + 1D0940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4+0 = 4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A+4 = E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7+9 = 16 = 0x10 (write 0, carry 1)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2+0+1 = 3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1+D = E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1 = 1 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63" name="Google Shape;663;p42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3167950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64" name="Google Shape;664;p42"/>
          <p:cNvSpPr txBox="1"/>
          <p:nvPr/>
        </p:nvSpPr>
        <p:spPr>
          <a:xfrm>
            <a:off x="328350" y="3106150"/>
            <a:ext cx="32508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Working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665" name="Google Shape;665;p42"/>
          <p:cNvCxnSpPr/>
          <p:nvPr/>
        </p:nvCxnSpPr>
        <p:spPr>
          <a:xfrm>
            <a:off x="2423400" y="97855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6" name="Google Shape;666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7" name="Google Shape;667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3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3" name="Google Shape;673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388225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74" name="Google Shape;67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76" name="Google Shape;676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7" name="Google Shape;677;p43"/>
          <p:cNvSpPr txBox="1"/>
          <p:nvPr/>
        </p:nvSpPr>
        <p:spPr>
          <a:xfrm>
            <a:off x="351900" y="791050"/>
            <a:ext cx="84942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(6) (a) Multiply (34)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(42)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(b) Multiply (25)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(36)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(3133)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(1033)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78" name="Google Shape;678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79" name="Google Shape;679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2" name="Google Shape;682;p4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3" name="Google Shape;683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4" name="Google Shape;684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4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0" name="Google Shape;69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92" name="Google Shape;692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93" name="Google Shape;693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6" name="Google Shape;696;p4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44"/>
          <p:cNvSpPr txBox="1"/>
          <p:nvPr/>
        </p:nvSpPr>
        <p:spPr>
          <a:xfrm>
            <a:off x="351900" y="791050"/>
            <a:ext cx="8494200" cy="3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For 2 bit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0 - 0 = 0 0 ( 0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1 - 1 = 0 0 ( 0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1 - 0 = 0 1 ( 1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0 - 1 = ? ( ???)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8" name="Google Shape;698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9" name="Google Shape;699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5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5" name="Google Shape;70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07" name="Google Shape;707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08" name="Google Shape;708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1" name="Google Shape;711;p4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45"/>
          <p:cNvSpPr txBox="1"/>
          <p:nvPr/>
        </p:nvSpPr>
        <p:spPr>
          <a:xfrm>
            <a:off x="351900" y="791050"/>
            <a:ext cx="7339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</a:t>
            </a:r>
            <a:r>
              <a:rPr lang="en" sz="19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9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2    →    10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- 1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→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- 01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1    →    01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4    →   100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- 1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→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- 001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3    →   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713" name="Google Shape;713;p45"/>
          <p:cNvCxnSpPr/>
          <p:nvPr/>
        </p:nvCxnSpPr>
        <p:spPr>
          <a:xfrm>
            <a:off x="3089112" y="13183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4" name="Google Shape;714;p45"/>
          <p:cNvCxnSpPr/>
          <p:nvPr/>
        </p:nvCxnSpPr>
        <p:spPr>
          <a:xfrm>
            <a:off x="3306187" y="1688250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15" name="Google Shape;715;p45"/>
          <p:cNvSpPr txBox="1"/>
          <p:nvPr/>
        </p:nvSpPr>
        <p:spPr>
          <a:xfrm>
            <a:off x="3036175" y="921200"/>
            <a:ext cx="22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18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16" name="Google Shape;716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6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3" name="Google Shape;723;p46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1662320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24" name="Google Shape;72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46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26" name="Google Shape;726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7" name="Google Shape;727;p46"/>
          <p:cNvSpPr txBox="1"/>
          <p:nvPr/>
        </p:nvSpPr>
        <p:spPr>
          <a:xfrm>
            <a:off x="351900" y="791050"/>
            <a:ext cx="84942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(7)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Subtract (100111)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from (101101)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(000110)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2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28" name="Google Shape;728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9" name="Google Shape;729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2" name="Google Shape;732;p4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33" name="Google Shape;733;p46"/>
          <p:cNvGrpSpPr/>
          <p:nvPr/>
        </p:nvGrpSpPr>
        <p:grpSpPr>
          <a:xfrm>
            <a:off x="1689700" y="2590237"/>
            <a:ext cx="3794183" cy="1768177"/>
            <a:chOff x="2192" y="550"/>
            <a:chExt cx="2590" cy="1207"/>
          </a:xfrm>
        </p:grpSpPr>
        <p:sp>
          <p:nvSpPr>
            <p:cNvPr id="734" name="Google Shape;734;p46"/>
            <p:cNvSpPr txBox="1"/>
            <p:nvPr/>
          </p:nvSpPr>
          <p:spPr>
            <a:xfrm>
              <a:off x="2192" y="550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>
                  <a:latin typeface="Lexend"/>
                  <a:ea typeface="Lexend"/>
                  <a:cs typeface="Lexend"/>
                  <a:sym typeface="Lexend"/>
                </a:rPr>
                <a:t>Working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35" name="Google Shape;735;p46"/>
            <p:cNvSpPr txBox="1"/>
            <p:nvPr/>
          </p:nvSpPr>
          <p:spPr>
            <a:xfrm>
              <a:off x="2382" y="839"/>
              <a:ext cx="24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Minuend:          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101101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Subtrahend: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−100111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18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8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36" name="Google Shape;736;p46"/>
            <p:cNvSpPr txBox="1"/>
            <p:nvPr/>
          </p:nvSpPr>
          <p:spPr>
            <a:xfrm>
              <a:off x="2372" y="1457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Difference:       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000110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737" name="Google Shape;737;p46"/>
            <p:cNvCxnSpPr/>
            <p:nvPr/>
          </p:nvCxnSpPr>
          <p:spPr>
            <a:xfrm>
              <a:off x="2213" y="1434"/>
              <a:ext cx="2100" cy="0"/>
            </a:xfrm>
            <a:prstGeom prst="straightConnector1">
              <a:avLst/>
            </a:prstGeom>
            <a:noFill/>
            <a:ln cap="flat" cmpd="sng" w="28575">
              <a:solidFill>
                <a:srgbClr val="33339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738" name="Google Shape;738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7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47" name="Google Shape;747;p4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8" name="Google Shape;748;p4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1" name="Google Shape;751;p4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47"/>
          <p:cNvSpPr txBox="1"/>
          <p:nvPr/>
        </p:nvSpPr>
        <p:spPr>
          <a:xfrm>
            <a:off x="351900" y="791050"/>
            <a:ext cx="365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b="1" sz="15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(4 A 6)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-(1 B 3)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(2 F 3)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753" name="Google Shape;753;p47"/>
          <p:cNvCxnSpPr/>
          <p:nvPr/>
        </p:nvCxnSpPr>
        <p:spPr>
          <a:xfrm>
            <a:off x="769512" y="13373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54" name="Google Shape;754;p47"/>
          <p:cNvSpPr txBox="1"/>
          <p:nvPr/>
        </p:nvSpPr>
        <p:spPr>
          <a:xfrm>
            <a:off x="4572000" y="913250"/>
            <a:ext cx="365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(5 4)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-(3 5)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(1 5)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755" name="Google Shape;755;p47"/>
          <p:cNvCxnSpPr/>
          <p:nvPr/>
        </p:nvCxnSpPr>
        <p:spPr>
          <a:xfrm>
            <a:off x="1152537" y="1690250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56" name="Google Shape;756;p47"/>
          <p:cNvCxnSpPr/>
          <p:nvPr/>
        </p:nvCxnSpPr>
        <p:spPr>
          <a:xfrm>
            <a:off x="5002637" y="14095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57" name="Google Shape;757;p47"/>
          <p:cNvCxnSpPr/>
          <p:nvPr/>
        </p:nvCxnSpPr>
        <p:spPr>
          <a:xfrm>
            <a:off x="5415712" y="18326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58" name="Google Shape;758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8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5" name="Google Shape;765;p48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759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66" name="Google Shape;76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48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68" name="Google Shape;768;p4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69" name="Google Shape;769;p48"/>
          <p:cNvSpPr txBox="1"/>
          <p:nvPr/>
        </p:nvSpPr>
        <p:spPr>
          <a:xfrm>
            <a:off x="351900" y="791050"/>
            <a:ext cx="8494200" cy="3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(8) (a)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(71)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-(56)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                                       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(21)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-(12)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(13)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b) (2)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0" name="Google Shape;770;p4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71" name="Google Shape;771;p4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4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4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4" name="Google Shape;774;p4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4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4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9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2" name="Google Shape;78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84" name="Google Shape;784;p4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85" name="Google Shape;785;p4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8" name="Google Shape;788;p4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Division of </a:t>
            </a: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49"/>
          <p:cNvSpPr txBox="1"/>
          <p:nvPr/>
        </p:nvSpPr>
        <p:spPr>
          <a:xfrm>
            <a:off x="-13425" y="694775"/>
            <a:ext cx="5498700" cy="43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Dividend: 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 Divisor: 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y; 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101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/ 10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  Dividend = 101 and Divisor = 10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Step1: Start with the first digit of the dividend.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Step2: Compare it with the divisor;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If  (it is smaller, than the divisor):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&lt;y)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2.a append 0 to the quotient.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else: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&gt;= y)</a:t>
            </a:r>
            <a:b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proceed with division.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2.a Find the largest multiple of the divisor that fits.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2.b Append the multiplier to the quotient.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Step3: Subtract and bring down the next digit.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Step4: From now on compare the newly formed number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in step3 with the divisor while repeating step2.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Step5. Repeat this step 2, 3 &amp; 4 until all digits of the dividend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are processed.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49"/>
          <p:cNvSpPr txBox="1"/>
          <p:nvPr/>
        </p:nvSpPr>
        <p:spPr>
          <a:xfrm>
            <a:off x="5485275" y="542075"/>
            <a:ext cx="33390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1          </a:t>
            </a: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2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10│ 101 │0  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10│ 101 │01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 </a:t>
            </a:r>
            <a:endParaRPr sz="16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10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-10  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3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10│ 101 │010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 </a:t>
            </a:r>
            <a:endParaRPr sz="16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-10 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01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- 0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791" name="Google Shape;791;p49"/>
          <p:cNvCxnSpPr/>
          <p:nvPr/>
        </p:nvCxnSpPr>
        <p:spPr>
          <a:xfrm>
            <a:off x="5397450" y="9702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2" name="Google Shape;792;p4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4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50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9" name="Google Shape;79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00" y="255650"/>
            <a:ext cx="5916300" cy="458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50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2378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01" name="Google Shape;801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50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03" name="Google Shape;803;p5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04" name="Google Shape;804;p50"/>
          <p:cNvSpPr txBox="1"/>
          <p:nvPr/>
        </p:nvSpPr>
        <p:spPr>
          <a:xfrm>
            <a:off x="351900" y="791050"/>
            <a:ext cx="29679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(9)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Perform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10111012 / 1102; Find the quotient and remainder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5" name="Google Shape;805;p5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6" name="Google Shape;806;p5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07" name="Google Shape;807;p5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5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5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10" name="Google Shape;81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96500" y="2452897"/>
            <a:ext cx="2124650" cy="218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50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5977675" y="2059300"/>
            <a:ext cx="2247599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12" name="Google Shape;812;p50"/>
          <p:cNvSpPr txBox="1"/>
          <p:nvPr/>
        </p:nvSpPr>
        <p:spPr>
          <a:xfrm>
            <a:off x="6325950" y="1979050"/>
            <a:ext cx="224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Alt.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813" name="Google Shape;813;p50"/>
          <p:cNvCxnSpPr/>
          <p:nvPr/>
        </p:nvCxnSpPr>
        <p:spPr>
          <a:xfrm>
            <a:off x="3099000" y="9052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4" name="Google Shape;814;p5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5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1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1" name="Google Shape;82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225" y="978550"/>
            <a:ext cx="6160771" cy="38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5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2378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23" name="Google Shape;82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5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902" y="905275"/>
            <a:ext cx="931725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25" name="Google Shape;825;p5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26" name="Google Shape;826;p51"/>
          <p:cNvSpPr txBox="1"/>
          <p:nvPr/>
        </p:nvSpPr>
        <p:spPr>
          <a:xfrm>
            <a:off x="351900" y="791050"/>
            <a:ext cx="29679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Perform 234102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/ 321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; Find the quotient and remainder.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27" name="Google Shape;827;p5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28" name="Google Shape;828;p5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5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5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1" name="Google Shape;831;p5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2" name="Google Shape;832;p51"/>
          <p:cNvCxnSpPr/>
          <p:nvPr/>
        </p:nvCxnSpPr>
        <p:spPr>
          <a:xfrm>
            <a:off x="2946600" y="9052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3" name="Google Shape;833;p5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5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52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0" name="Google Shape;840;p5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759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41" name="Google Shape;84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5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900" y="905275"/>
            <a:ext cx="891625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43" name="Google Shape;843;p5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44" name="Google Shape;844;p52"/>
          <p:cNvSpPr txBox="1"/>
          <p:nvPr/>
        </p:nvSpPr>
        <p:spPr>
          <a:xfrm>
            <a:off x="351900" y="791050"/>
            <a:ext cx="8494200" cy="4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(11)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(71)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/ (56)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(b) (21)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/ (12)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Find the quotient and remainder.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Do it yourself &amp; Compare the answer with your peers.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45" name="Google Shape;845;p5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46" name="Google Shape;846;p5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5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5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9" name="Google Shape;849;p5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5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5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